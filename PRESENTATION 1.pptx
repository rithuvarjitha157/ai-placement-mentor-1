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74" autoAdjust="0"/>
    <p:restoredTop sz="94610"/>
  </p:normalViewPr>
  <p:slideViewPr>
    <p:cSldViewPr snapToGrid="0" snapToObjects="1">
      <p:cViewPr varScale="1">
        <p:scale>
          <a:sx n="70" d="100"/>
          <a:sy n="70" d="100"/>
        </p:scale>
        <p:origin x="94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4098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508760"/>
          </a:xfrm>
          <a:prstGeom prst="rect">
            <a:avLst/>
          </a:prstGeom>
          <a:solidFill>
            <a:srgbClr val="1F4E79"/>
          </a:solidFill>
          <a:ln/>
        </p:spPr>
        <p:txBody>
          <a:bodyPr/>
          <a:lstStyle/>
          <a:p>
            <a:endParaRPr lang="en-GB" dirty="0"/>
          </a:p>
        </p:txBody>
      </p:sp>
      <p:sp>
        <p:nvSpPr>
          <p:cNvPr id="3" name="Text 1"/>
          <p:cNvSpPr/>
          <p:nvPr/>
        </p:nvSpPr>
        <p:spPr>
          <a:xfrm>
            <a:off x="548640" y="292608"/>
            <a:ext cx="7315200" cy="502920"/>
          </a:xfrm>
          <a:prstGeom prst="rect">
            <a:avLst/>
          </a:prstGeom>
          <a:noFill/>
          <a:ln/>
        </p:spPr>
        <p:txBody>
          <a:bodyPr wrap="square" rtlCol="0" anchor="ctr"/>
          <a:lstStyle/>
          <a:p>
            <a:r>
              <a:rPr lang="en-US" sz="2800" dirty="0">
                <a:solidFill>
                  <a:srgbClr val="D9E7F8"/>
                </a:solidFill>
                <a:latin typeface="Calibri" pitchFamily="34" charset="0"/>
                <a:ea typeface="Calibri" pitchFamily="34" charset="-122"/>
                <a:cs typeface="Calibri" pitchFamily="34" charset="-120"/>
              </a:rPr>
              <a:t>AI Placement Mentor</a:t>
            </a:r>
            <a:endParaRPr lang="en-US" sz="2800" dirty="0"/>
          </a:p>
          <a:p>
            <a:pPr marL="0" indent="0">
              <a:buNone/>
            </a:pPr>
            <a:endParaRPr lang="en-US" sz="2600" dirty="0"/>
          </a:p>
        </p:txBody>
      </p:sp>
      <p:sp>
        <p:nvSpPr>
          <p:cNvPr id="4" name="Text 2"/>
          <p:cNvSpPr/>
          <p:nvPr/>
        </p:nvSpPr>
        <p:spPr>
          <a:xfrm>
            <a:off x="548640" y="777240"/>
            <a:ext cx="8229600" cy="457200"/>
          </a:xfrm>
          <a:prstGeom prst="rect">
            <a:avLst/>
          </a:prstGeom>
          <a:noFill/>
          <a:ln/>
        </p:spPr>
        <p:txBody>
          <a:bodyPr wrap="square" rtlCol="0" anchor="ctr"/>
          <a:lstStyle/>
          <a:p>
            <a:pPr marL="0" indent="0">
              <a:buNone/>
            </a:pPr>
            <a:r>
              <a:rPr lang="en-US" sz="2500" dirty="0">
                <a:solidFill>
                  <a:srgbClr val="D9E7F8"/>
                </a:solidFill>
                <a:latin typeface="Calibri" pitchFamily="34" charset="0"/>
                <a:cs typeface="Calibri" pitchFamily="34" charset="-120"/>
              </a:rPr>
              <a:t>VISIONX</a:t>
            </a:r>
            <a:endParaRPr lang="en-US" sz="2500" dirty="0"/>
          </a:p>
        </p:txBody>
      </p:sp>
      <p:sp>
        <p:nvSpPr>
          <p:cNvPr id="5" name="Text 3"/>
          <p:cNvSpPr/>
          <p:nvPr/>
        </p:nvSpPr>
        <p:spPr>
          <a:xfrm>
            <a:off x="548640" y="1965960"/>
            <a:ext cx="2560320" cy="457200"/>
          </a:xfrm>
          <a:prstGeom prst="rect">
            <a:avLst/>
          </a:prstGeom>
          <a:noFill/>
          <a:ln/>
        </p:spPr>
        <p:txBody>
          <a:bodyPr wrap="square" rtlCol="0" anchor="ctr"/>
          <a:lstStyle/>
          <a:p>
            <a:pPr marL="0" indent="0">
              <a:buNone/>
            </a:pPr>
            <a:r>
              <a:rPr lang="en-US" sz="1350" b="1" dirty="0">
                <a:solidFill>
                  <a:srgbClr val="1F4E79"/>
                </a:solidFill>
                <a:latin typeface="Calibri" pitchFamily="34" charset="0"/>
                <a:ea typeface="Calibri" pitchFamily="34" charset="-122"/>
                <a:cs typeface="Calibri" pitchFamily="34" charset="-120"/>
              </a:rPr>
              <a:t>Team ID</a:t>
            </a:r>
            <a:endParaRPr lang="en-US" sz="1350" dirty="0"/>
          </a:p>
        </p:txBody>
      </p:sp>
      <p:sp>
        <p:nvSpPr>
          <p:cNvPr id="6" name="Text 4"/>
          <p:cNvSpPr/>
          <p:nvPr/>
        </p:nvSpPr>
        <p:spPr>
          <a:xfrm>
            <a:off x="3200400" y="1965960"/>
            <a:ext cx="7955280" cy="457200"/>
          </a:xfrm>
          <a:prstGeom prst="rect">
            <a:avLst/>
          </a:prstGeom>
          <a:noFill/>
          <a:ln/>
        </p:spPr>
        <p:txBody>
          <a:bodyPr wrap="square" rtlCol="0" anchor="ctr"/>
          <a:lstStyle/>
          <a:p>
            <a:pPr marL="0" indent="0">
              <a:buNone/>
            </a:pPr>
            <a:r>
              <a:rPr lang="en-US" sz="1350" dirty="0">
                <a:solidFill>
                  <a:srgbClr val="262626"/>
                </a:solidFill>
                <a:latin typeface="Calibri" pitchFamily="34" charset="0"/>
                <a:ea typeface="Calibri" pitchFamily="34" charset="-122"/>
                <a:cs typeface="Calibri" pitchFamily="34" charset="-120"/>
              </a:rPr>
              <a:t>H26EDU14</a:t>
            </a:r>
            <a:endParaRPr lang="en-US" sz="1350" dirty="0"/>
          </a:p>
        </p:txBody>
      </p:sp>
      <p:sp>
        <p:nvSpPr>
          <p:cNvPr id="7" name="Shape 5"/>
          <p:cNvSpPr/>
          <p:nvPr/>
        </p:nvSpPr>
        <p:spPr>
          <a:xfrm>
            <a:off x="548640" y="2441448"/>
            <a:ext cx="10698480" cy="0"/>
          </a:xfrm>
          <a:prstGeom prst="line">
            <a:avLst/>
          </a:prstGeom>
          <a:noFill/>
          <a:ln w="9525">
            <a:solidFill>
              <a:srgbClr val="BFBFBF"/>
            </a:solidFill>
            <a:prstDash val="solid"/>
          </a:ln>
        </p:spPr>
        <p:txBody>
          <a:bodyPr/>
          <a:lstStyle/>
          <a:p>
            <a:endParaRPr lang="en-GB" dirty="0"/>
          </a:p>
        </p:txBody>
      </p:sp>
      <p:sp>
        <p:nvSpPr>
          <p:cNvPr id="8" name="Text 6"/>
          <p:cNvSpPr/>
          <p:nvPr/>
        </p:nvSpPr>
        <p:spPr>
          <a:xfrm>
            <a:off x="548640" y="2532888"/>
            <a:ext cx="2560320" cy="457200"/>
          </a:xfrm>
          <a:prstGeom prst="rect">
            <a:avLst/>
          </a:prstGeom>
          <a:noFill/>
          <a:ln/>
        </p:spPr>
        <p:txBody>
          <a:bodyPr wrap="square" rtlCol="0" anchor="ctr"/>
          <a:lstStyle/>
          <a:p>
            <a:pPr marL="0" indent="0">
              <a:buNone/>
            </a:pPr>
            <a:r>
              <a:rPr lang="en-US" sz="1350" b="1" dirty="0">
                <a:solidFill>
                  <a:srgbClr val="1F4E79"/>
                </a:solidFill>
                <a:latin typeface="Calibri" pitchFamily="34" charset="0"/>
                <a:ea typeface="Calibri" pitchFamily="34" charset="-122"/>
                <a:cs typeface="Calibri" pitchFamily="34" charset="-120"/>
              </a:rPr>
              <a:t>Project Title</a:t>
            </a:r>
            <a:endParaRPr lang="en-US" sz="1350" dirty="0"/>
          </a:p>
        </p:txBody>
      </p:sp>
      <p:sp>
        <p:nvSpPr>
          <p:cNvPr id="9" name="Text 7"/>
          <p:cNvSpPr/>
          <p:nvPr/>
        </p:nvSpPr>
        <p:spPr>
          <a:xfrm>
            <a:off x="3200400" y="2532888"/>
            <a:ext cx="7955280" cy="457200"/>
          </a:xfrm>
          <a:prstGeom prst="rect">
            <a:avLst/>
          </a:prstGeom>
          <a:noFill/>
          <a:ln/>
        </p:spPr>
        <p:txBody>
          <a:bodyPr wrap="square" rtlCol="0" anchor="ctr"/>
          <a:lstStyle/>
          <a:p>
            <a:pPr marL="0" indent="0">
              <a:buNone/>
            </a:pPr>
            <a:r>
              <a:rPr lang="en-US" sz="1350" dirty="0">
                <a:solidFill>
                  <a:srgbClr val="262626"/>
                </a:solidFill>
                <a:latin typeface="Calibri" pitchFamily="34" charset="0"/>
                <a:ea typeface="Calibri" pitchFamily="34" charset="-122"/>
                <a:cs typeface="Calibri" pitchFamily="34" charset="-120"/>
              </a:rPr>
              <a:t>AI Placement Mentor</a:t>
            </a:r>
            <a:endParaRPr lang="en-US" sz="1350" dirty="0"/>
          </a:p>
        </p:txBody>
      </p:sp>
      <p:sp>
        <p:nvSpPr>
          <p:cNvPr id="10" name="Shape 8"/>
          <p:cNvSpPr/>
          <p:nvPr/>
        </p:nvSpPr>
        <p:spPr>
          <a:xfrm>
            <a:off x="548640" y="3008376"/>
            <a:ext cx="10698480" cy="0"/>
          </a:xfrm>
          <a:prstGeom prst="line">
            <a:avLst/>
          </a:prstGeom>
          <a:noFill/>
          <a:ln w="9525">
            <a:solidFill>
              <a:srgbClr val="BFBFBF"/>
            </a:solidFill>
            <a:prstDash val="solid"/>
          </a:ln>
        </p:spPr>
      </p:sp>
      <p:sp>
        <p:nvSpPr>
          <p:cNvPr id="11" name="Text 9"/>
          <p:cNvSpPr/>
          <p:nvPr/>
        </p:nvSpPr>
        <p:spPr>
          <a:xfrm>
            <a:off x="548640" y="3099816"/>
            <a:ext cx="2560320" cy="457200"/>
          </a:xfrm>
          <a:prstGeom prst="rect">
            <a:avLst/>
          </a:prstGeom>
          <a:noFill/>
          <a:ln/>
        </p:spPr>
        <p:txBody>
          <a:bodyPr wrap="square" rtlCol="0" anchor="ctr"/>
          <a:lstStyle/>
          <a:p>
            <a:pPr marL="0" indent="0">
              <a:buNone/>
            </a:pPr>
            <a:r>
              <a:rPr lang="en-US" sz="1350" b="1" dirty="0">
                <a:solidFill>
                  <a:srgbClr val="1F4E79"/>
                </a:solidFill>
                <a:latin typeface="Calibri" pitchFamily="34" charset="0"/>
                <a:ea typeface="Calibri" pitchFamily="34" charset="-122"/>
                <a:cs typeface="Calibri" pitchFamily="34" charset="-120"/>
              </a:rPr>
              <a:t>Team Lead</a:t>
            </a:r>
            <a:endParaRPr lang="en-US" sz="1350" dirty="0"/>
          </a:p>
        </p:txBody>
      </p:sp>
      <p:sp>
        <p:nvSpPr>
          <p:cNvPr id="12" name="Text 10"/>
          <p:cNvSpPr/>
          <p:nvPr/>
        </p:nvSpPr>
        <p:spPr>
          <a:xfrm>
            <a:off x="3200400" y="3099816"/>
            <a:ext cx="7955280" cy="457200"/>
          </a:xfrm>
          <a:prstGeom prst="rect">
            <a:avLst/>
          </a:prstGeom>
          <a:noFill/>
          <a:ln/>
        </p:spPr>
        <p:txBody>
          <a:bodyPr wrap="square" rtlCol="0" anchor="ctr"/>
          <a:lstStyle/>
          <a:p>
            <a:pPr marL="0" indent="0">
              <a:buNone/>
            </a:pPr>
            <a:r>
              <a:rPr lang="en-US" sz="1350" dirty="0">
                <a:solidFill>
                  <a:srgbClr val="262626"/>
                </a:solidFill>
                <a:latin typeface="Calibri" pitchFamily="34" charset="0"/>
                <a:ea typeface="Calibri" pitchFamily="34" charset="-122"/>
                <a:cs typeface="Calibri" pitchFamily="34" charset="-120"/>
              </a:rPr>
              <a:t>Monica Sherlin P</a:t>
            </a:r>
            <a:endParaRPr lang="en-US" sz="1350" dirty="0"/>
          </a:p>
        </p:txBody>
      </p:sp>
      <p:sp>
        <p:nvSpPr>
          <p:cNvPr id="13" name="Shape 11"/>
          <p:cNvSpPr/>
          <p:nvPr/>
        </p:nvSpPr>
        <p:spPr>
          <a:xfrm>
            <a:off x="548640" y="3575304"/>
            <a:ext cx="10698480" cy="0"/>
          </a:xfrm>
          <a:prstGeom prst="line">
            <a:avLst/>
          </a:prstGeom>
          <a:noFill/>
          <a:ln w="9525">
            <a:solidFill>
              <a:srgbClr val="BFBFBF"/>
            </a:solidFill>
            <a:prstDash val="solid"/>
          </a:ln>
        </p:spPr>
      </p:sp>
      <p:sp>
        <p:nvSpPr>
          <p:cNvPr id="14" name="Text 12"/>
          <p:cNvSpPr/>
          <p:nvPr/>
        </p:nvSpPr>
        <p:spPr>
          <a:xfrm>
            <a:off x="548640" y="3666744"/>
            <a:ext cx="2560320" cy="457200"/>
          </a:xfrm>
          <a:prstGeom prst="rect">
            <a:avLst/>
          </a:prstGeom>
          <a:noFill/>
          <a:ln/>
        </p:spPr>
        <p:txBody>
          <a:bodyPr wrap="square" rtlCol="0" anchor="ctr"/>
          <a:lstStyle/>
          <a:p>
            <a:pPr marL="0" indent="0">
              <a:buNone/>
            </a:pPr>
            <a:r>
              <a:rPr lang="en-US" sz="1350" b="1" dirty="0">
                <a:solidFill>
                  <a:srgbClr val="1F4E79"/>
                </a:solidFill>
                <a:latin typeface="Calibri" pitchFamily="34" charset="0"/>
                <a:ea typeface="Calibri" pitchFamily="34" charset="-122"/>
                <a:cs typeface="Calibri" pitchFamily="34" charset="-120"/>
              </a:rPr>
              <a:t>Team Members</a:t>
            </a:r>
            <a:endParaRPr lang="en-US" sz="1350" dirty="0"/>
          </a:p>
        </p:txBody>
      </p:sp>
      <p:sp>
        <p:nvSpPr>
          <p:cNvPr id="15" name="Text 13"/>
          <p:cNvSpPr/>
          <p:nvPr/>
        </p:nvSpPr>
        <p:spPr>
          <a:xfrm>
            <a:off x="3200400" y="3666744"/>
            <a:ext cx="7955280" cy="457200"/>
          </a:xfrm>
          <a:prstGeom prst="rect">
            <a:avLst/>
          </a:prstGeom>
          <a:noFill/>
          <a:ln/>
        </p:spPr>
        <p:txBody>
          <a:bodyPr wrap="square" rtlCol="0" anchor="ctr"/>
          <a:lstStyle/>
          <a:p>
            <a:pPr marL="0" indent="0">
              <a:buNone/>
            </a:pPr>
            <a:r>
              <a:rPr lang="en-US" sz="1350" dirty="0">
                <a:solidFill>
                  <a:srgbClr val="262626"/>
                </a:solidFill>
                <a:latin typeface="Calibri" pitchFamily="34" charset="0"/>
                <a:ea typeface="Calibri" pitchFamily="34" charset="-122"/>
                <a:cs typeface="Calibri" pitchFamily="34" charset="-120"/>
              </a:rPr>
              <a:t>Monica Sherlin P, Rithuvarjitha VL</a:t>
            </a:r>
            <a:endParaRPr lang="en-US" sz="1350" dirty="0"/>
          </a:p>
        </p:txBody>
      </p:sp>
      <p:sp>
        <p:nvSpPr>
          <p:cNvPr id="16" name="Shape 14"/>
          <p:cNvSpPr/>
          <p:nvPr/>
        </p:nvSpPr>
        <p:spPr>
          <a:xfrm>
            <a:off x="548640" y="4142232"/>
            <a:ext cx="10698480" cy="0"/>
          </a:xfrm>
          <a:prstGeom prst="line">
            <a:avLst/>
          </a:prstGeom>
          <a:noFill/>
          <a:ln w="9525">
            <a:solidFill>
              <a:srgbClr val="BFBFBF"/>
            </a:solidFill>
            <a:prstDash val="solid"/>
          </a:ln>
        </p:spPr>
      </p:sp>
      <p:sp>
        <p:nvSpPr>
          <p:cNvPr id="17" name="Text 15"/>
          <p:cNvSpPr/>
          <p:nvPr/>
        </p:nvSpPr>
        <p:spPr>
          <a:xfrm>
            <a:off x="548640" y="4233672"/>
            <a:ext cx="2560320" cy="457200"/>
          </a:xfrm>
          <a:prstGeom prst="rect">
            <a:avLst/>
          </a:prstGeom>
          <a:noFill/>
          <a:ln/>
        </p:spPr>
        <p:txBody>
          <a:bodyPr wrap="square" rtlCol="0" anchor="ctr"/>
          <a:lstStyle/>
          <a:p>
            <a:pPr marL="0" indent="0">
              <a:buNone/>
            </a:pPr>
            <a:r>
              <a:rPr lang="en-US" sz="1350" b="1" dirty="0">
                <a:solidFill>
                  <a:srgbClr val="1F4E79"/>
                </a:solidFill>
                <a:latin typeface="Calibri" pitchFamily="34" charset="0"/>
                <a:ea typeface="Calibri" pitchFamily="34" charset="-122"/>
                <a:cs typeface="Calibri" pitchFamily="34" charset="-120"/>
              </a:rPr>
              <a:t>College Name</a:t>
            </a:r>
            <a:endParaRPr lang="en-US" sz="1350" dirty="0"/>
          </a:p>
        </p:txBody>
      </p:sp>
      <p:sp>
        <p:nvSpPr>
          <p:cNvPr id="18" name="Text 16"/>
          <p:cNvSpPr/>
          <p:nvPr/>
        </p:nvSpPr>
        <p:spPr>
          <a:xfrm>
            <a:off x="3200400" y="4233672"/>
            <a:ext cx="7955280" cy="457200"/>
          </a:xfrm>
          <a:prstGeom prst="rect">
            <a:avLst/>
          </a:prstGeom>
          <a:noFill/>
          <a:ln/>
        </p:spPr>
        <p:txBody>
          <a:bodyPr wrap="square" rtlCol="0" anchor="ctr"/>
          <a:lstStyle/>
          <a:p>
            <a:pPr marL="0" indent="0">
              <a:buNone/>
            </a:pPr>
            <a:r>
              <a:rPr lang="en-US" sz="1350" dirty="0">
                <a:solidFill>
                  <a:srgbClr val="262626"/>
                </a:solidFill>
                <a:latin typeface="Calibri" pitchFamily="34" charset="0"/>
                <a:ea typeface="Calibri" pitchFamily="34" charset="-122"/>
                <a:cs typeface="Calibri" pitchFamily="34" charset="-120"/>
              </a:rPr>
              <a:t>VIT Chennai</a:t>
            </a:r>
            <a:endParaRPr lang="en-US" sz="1350" dirty="0"/>
          </a:p>
        </p:txBody>
      </p:sp>
      <p:sp>
        <p:nvSpPr>
          <p:cNvPr id="19" name="Shape 17"/>
          <p:cNvSpPr/>
          <p:nvPr/>
        </p:nvSpPr>
        <p:spPr>
          <a:xfrm>
            <a:off x="548640" y="4709160"/>
            <a:ext cx="10698480" cy="0"/>
          </a:xfrm>
          <a:prstGeom prst="line">
            <a:avLst/>
          </a:prstGeom>
          <a:noFill/>
          <a:ln w="9525">
            <a:solidFill>
              <a:srgbClr val="BFBFBF"/>
            </a:solidFill>
            <a:prstDash val="solid"/>
          </a:ln>
        </p:spPr>
      </p:sp>
      <p:sp>
        <p:nvSpPr>
          <p:cNvPr id="20" name="Shape 18"/>
          <p:cNvSpPr/>
          <p:nvPr/>
        </p:nvSpPr>
        <p:spPr>
          <a:xfrm>
            <a:off x="548640" y="4983480"/>
            <a:ext cx="10698480" cy="1051560"/>
          </a:xfrm>
          <a:prstGeom prst="rect">
            <a:avLst/>
          </a:prstGeom>
          <a:solidFill>
            <a:srgbClr val="EAF1FA"/>
          </a:solidFill>
          <a:ln w="12700">
            <a:solidFill>
              <a:srgbClr val="BFBFBF"/>
            </a:solidFill>
            <a:prstDash val="solid"/>
          </a:ln>
        </p:spPr>
      </p:sp>
      <p:sp>
        <p:nvSpPr>
          <p:cNvPr id="21" name="Text 19"/>
          <p:cNvSpPr/>
          <p:nvPr/>
        </p:nvSpPr>
        <p:spPr>
          <a:xfrm>
            <a:off x="777240" y="4873752"/>
            <a:ext cx="4572000" cy="493776"/>
          </a:xfrm>
          <a:prstGeom prst="rect">
            <a:avLst/>
          </a:prstGeom>
          <a:noFill/>
          <a:ln/>
        </p:spPr>
        <p:txBody>
          <a:bodyPr wrap="square" rtlCol="0" anchor="ctr"/>
          <a:lstStyle/>
          <a:p>
            <a:pPr marL="0" indent="0">
              <a:buNone/>
            </a:pPr>
            <a:r>
              <a:rPr lang="en-US" sz="1250" b="1" dirty="0">
                <a:solidFill>
                  <a:srgbClr val="1F4E79"/>
                </a:solidFill>
                <a:latin typeface="Calibri" pitchFamily="34" charset="0"/>
                <a:ea typeface="Calibri" pitchFamily="34" charset="-122"/>
                <a:cs typeface="Calibri" pitchFamily="34" charset="-120"/>
              </a:rPr>
              <a:t>Project Overview</a:t>
            </a:r>
            <a:endParaRPr lang="en-US" sz="1250" dirty="0"/>
          </a:p>
        </p:txBody>
      </p:sp>
      <p:sp>
        <p:nvSpPr>
          <p:cNvPr id="22" name="Text 20"/>
          <p:cNvSpPr/>
          <p:nvPr/>
        </p:nvSpPr>
        <p:spPr>
          <a:xfrm>
            <a:off x="777240" y="5349240"/>
            <a:ext cx="10241280" cy="493776"/>
          </a:xfrm>
          <a:prstGeom prst="rect">
            <a:avLst/>
          </a:prstGeom>
          <a:noFill/>
          <a:ln/>
        </p:spPr>
        <p:txBody>
          <a:bodyPr wrap="square" rtlCol="0" anchor="ctr"/>
          <a:lstStyle/>
          <a:p>
            <a:pPr>
              <a:lnSpc>
                <a:spcPct val="125000"/>
              </a:lnSpc>
            </a:pPr>
            <a:r>
              <a:rPr lang="en-GB" sz="1400" dirty="0"/>
              <a:t>AI Placement Mentor is an AI-powered platform that helps students prepare for campus placements through personalized guidance. It </a:t>
            </a:r>
            <a:r>
              <a:rPr lang="en-GB" sz="1400" dirty="0" err="1"/>
              <a:t>analyzes</a:t>
            </a:r>
            <a:r>
              <a:rPr lang="en-GB" sz="1400" dirty="0"/>
              <a:t> a student's profile and resume, identifies skill gaps, generates a customized learning roadmap, and provides AI-based mentoring to improve placement readiness and interview performance.</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9436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Problem Statement &amp; Objectives</a:t>
            </a:r>
            <a:endParaRPr lang="en-US" sz="2800" dirty="0"/>
          </a:p>
        </p:txBody>
      </p:sp>
      <p:sp>
        <p:nvSpPr>
          <p:cNvPr id="3" name="Shape 1"/>
          <p:cNvSpPr/>
          <p:nvPr/>
        </p:nvSpPr>
        <p:spPr>
          <a:xfrm>
            <a:off x="548640" y="941832"/>
            <a:ext cx="11064240" cy="0"/>
          </a:xfrm>
          <a:prstGeom prst="line">
            <a:avLst/>
          </a:prstGeom>
          <a:noFill/>
          <a:ln w="12700">
            <a:solidFill>
              <a:srgbClr val="BFBFBF"/>
            </a:solidFill>
            <a:prstDash val="solid"/>
          </a:ln>
        </p:spPr>
      </p:sp>
      <p:sp>
        <p:nvSpPr>
          <p:cNvPr id="4" name="Text 2"/>
          <p:cNvSpPr/>
          <p:nvPr/>
        </p:nvSpPr>
        <p:spPr>
          <a:xfrm>
            <a:off x="548640" y="1143000"/>
            <a:ext cx="5486400" cy="320040"/>
          </a:xfrm>
          <a:prstGeom prst="rect">
            <a:avLst/>
          </a:prstGeom>
          <a:noFill/>
          <a:ln/>
        </p:spPr>
        <p:txBody>
          <a:bodyPr wrap="square"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The Problem</a:t>
            </a:r>
            <a:endParaRPr lang="en-US" sz="1600" dirty="0"/>
          </a:p>
        </p:txBody>
      </p:sp>
      <p:sp>
        <p:nvSpPr>
          <p:cNvPr id="5" name="Text 3"/>
          <p:cNvSpPr/>
          <p:nvPr/>
        </p:nvSpPr>
        <p:spPr>
          <a:xfrm>
            <a:off x="548640" y="1481328"/>
            <a:ext cx="5394960" cy="320040"/>
          </a:xfrm>
          <a:prstGeom prst="rect">
            <a:avLst/>
          </a:prstGeom>
          <a:noFill/>
          <a:ln/>
        </p:spPr>
        <p:txBody>
          <a:bodyPr wrap="square" rtlCol="0" anchor="ctr"/>
          <a:lstStyle/>
          <a:p>
            <a:pPr marL="0" indent="0">
              <a:buNone/>
            </a:pPr>
            <a:endParaRPr lang="en-US" sz="1250" dirty="0"/>
          </a:p>
        </p:txBody>
      </p:sp>
      <p:sp>
        <p:nvSpPr>
          <p:cNvPr id="6" name="Text 4"/>
          <p:cNvSpPr/>
          <p:nvPr/>
        </p:nvSpPr>
        <p:spPr>
          <a:xfrm>
            <a:off x="469483" y="1641348"/>
            <a:ext cx="5394960" cy="3840480"/>
          </a:xfrm>
          <a:prstGeom prst="rect">
            <a:avLst/>
          </a:prstGeom>
          <a:noFill/>
          <a:ln/>
        </p:spPr>
        <p:txBody>
          <a:bodyPr wrap="square" rtlCol="0" anchor="t"/>
          <a:lstStyle/>
          <a:p>
            <a:pPr>
              <a:lnSpc>
                <a:spcPct val="160000"/>
              </a:lnSpc>
              <a:buSzPct val="100000"/>
            </a:pPr>
            <a:r>
              <a:rPr lang="en-GB" sz="1600" dirty="0"/>
              <a:t>A lot of students who are trying to get placements at colleges face certain challenges since there is no proper guidance given to them and they do not have any proper preparation strategy. The major challenge faced by most of the students is that they don't know the areas where they require improvement and what should be the preparation for particular companies.</a:t>
            </a:r>
          </a:p>
          <a:p>
            <a:pPr>
              <a:lnSpc>
                <a:spcPct val="160000"/>
              </a:lnSpc>
              <a:buSzPct val="100000"/>
            </a:pPr>
            <a:r>
              <a:rPr lang="en-GB" sz="1600" b="1" dirty="0"/>
              <a:t>Key challenges</a:t>
            </a:r>
          </a:p>
          <a:p>
            <a:pPr marL="285750" indent="-285750">
              <a:lnSpc>
                <a:spcPct val="160000"/>
              </a:lnSpc>
              <a:buSzPct val="100000"/>
              <a:buFont typeface="Arial" panose="020B0604020202020204" pitchFamily="34" charset="0"/>
              <a:buChar char="•"/>
            </a:pPr>
            <a:r>
              <a:rPr lang="en-GB" sz="1600" dirty="0"/>
              <a:t>They are unaware of skill gaps.</a:t>
            </a:r>
          </a:p>
          <a:p>
            <a:pPr marL="285750" indent="-285750">
              <a:lnSpc>
                <a:spcPct val="160000"/>
              </a:lnSpc>
              <a:buSzPct val="100000"/>
              <a:buFont typeface="Arial" panose="020B0604020202020204" pitchFamily="34" charset="0"/>
              <a:buChar char="•"/>
            </a:pPr>
            <a:r>
              <a:rPr lang="en-GB" sz="1600" dirty="0"/>
              <a:t>No personalized mentoring for placements.</a:t>
            </a:r>
          </a:p>
          <a:p>
            <a:pPr marL="285750" indent="-285750">
              <a:lnSpc>
                <a:spcPct val="160000"/>
              </a:lnSpc>
              <a:buSzPct val="100000"/>
              <a:buFont typeface="Arial" panose="020B0604020202020204" pitchFamily="34" charset="0"/>
              <a:buChar char="•"/>
            </a:pPr>
            <a:r>
              <a:rPr lang="en-GB" sz="1600" dirty="0"/>
              <a:t>General learning content is not role-specific.</a:t>
            </a:r>
          </a:p>
          <a:p>
            <a:pPr marL="285750" indent="-285750">
              <a:lnSpc>
                <a:spcPct val="160000"/>
              </a:lnSpc>
              <a:buSzPct val="100000"/>
              <a:buFont typeface="Arial" panose="020B0604020202020204" pitchFamily="34" charset="0"/>
              <a:buChar char="•"/>
            </a:pPr>
            <a:r>
              <a:rPr lang="en-GB" sz="1600" dirty="0"/>
              <a:t>No proper plan for placement preparation.</a:t>
            </a:r>
          </a:p>
          <a:p>
            <a:pPr marL="285750" indent="-285750">
              <a:lnSpc>
                <a:spcPct val="160000"/>
              </a:lnSpc>
              <a:buSzPct val="100000"/>
              <a:buFont typeface="Arial" panose="020B0604020202020204" pitchFamily="34" charset="0"/>
              <a:buChar char="•"/>
            </a:pPr>
            <a:r>
              <a:rPr lang="en-GB" sz="1600" dirty="0"/>
              <a:t>Difficulty comprehending expectations of recruiters.</a:t>
            </a:r>
            <a:endParaRPr lang="en-US" sz="1600" dirty="0"/>
          </a:p>
        </p:txBody>
      </p:sp>
      <p:sp>
        <p:nvSpPr>
          <p:cNvPr id="7" name="Text 5"/>
          <p:cNvSpPr/>
          <p:nvPr/>
        </p:nvSpPr>
        <p:spPr>
          <a:xfrm>
            <a:off x="6309360" y="1143000"/>
            <a:ext cx="5486400" cy="320040"/>
          </a:xfrm>
          <a:prstGeom prst="rect">
            <a:avLst/>
          </a:prstGeom>
          <a:noFill/>
          <a:ln/>
        </p:spPr>
        <p:txBody>
          <a:bodyPr wrap="square"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Our Objectives</a:t>
            </a:r>
            <a:endParaRPr lang="en-US" sz="1600" dirty="0"/>
          </a:p>
        </p:txBody>
      </p:sp>
      <p:sp>
        <p:nvSpPr>
          <p:cNvPr id="9" name="Text 7"/>
          <p:cNvSpPr/>
          <p:nvPr/>
        </p:nvSpPr>
        <p:spPr>
          <a:xfrm>
            <a:off x="6309360" y="1874520"/>
            <a:ext cx="5303520" cy="3657600"/>
          </a:xfrm>
          <a:prstGeom prst="rect">
            <a:avLst/>
          </a:prstGeom>
          <a:noFill/>
          <a:ln/>
        </p:spPr>
        <p:txBody>
          <a:bodyPr wrap="square" rtlCol="0" anchor="t"/>
          <a:lstStyle/>
          <a:p>
            <a:pPr lvl="1">
              <a:lnSpc>
                <a:spcPct val="140000"/>
              </a:lnSpc>
              <a:buSzPct val="100000"/>
            </a:pPr>
            <a:r>
              <a:rPr lang="en-GB" sz="1600" dirty="0"/>
              <a:t>This project seeks to:</a:t>
            </a:r>
          </a:p>
          <a:p>
            <a:pPr marL="742950" lvl="1" indent="-285750">
              <a:lnSpc>
                <a:spcPct val="140000"/>
              </a:lnSpc>
              <a:buSzPct val="100000"/>
              <a:buFont typeface="Arial" panose="020B0604020202020204" pitchFamily="34" charset="0"/>
              <a:buChar char="•"/>
            </a:pPr>
            <a:r>
              <a:rPr lang="en-GB" sz="1600" dirty="0" err="1"/>
              <a:t>Analyze</a:t>
            </a:r>
            <a:r>
              <a:rPr lang="en-GB" sz="1600" dirty="0"/>
              <a:t> the student’s profile and resume through AI.</a:t>
            </a:r>
          </a:p>
          <a:p>
            <a:pPr marL="742950" lvl="1" indent="-285750">
              <a:lnSpc>
                <a:spcPct val="140000"/>
              </a:lnSpc>
              <a:buSzPct val="100000"/>
              <a:buFont typeface="Arial" panose="020B0604020202020204" pitchFamily="34" charset="0"/>
              <a:buChar char="•"/>
            </a:pPr>
            <a:r>
              <a:rPr lang="en-GB" sz="1600" dirty="0"/>
              <a:t>Find strengths and areas of skill deficiency.</a:t>
            </a:r>
          </a:p>
          <a:p>
            <a:pPr marL="742950" lvl="1" indent="-285750">
              <a:lnSpc>
                <a:spcPct val="140000"/>
              </a:lnSpc>
              <a:buSzPct val="100000"/>
              <a:buFont typeface="Arial" panose="020B0604020202020204" pitchFamily="34" charset="0"/>
              <a:buChar char="•"/>
            </a:pPr>
            <a:r>
              <a:rPr lang="en-GB" sz="1600" dirty="0"/>
              <a:t>Develop an individual learning path.</a:t>
            </a:r>
          </a:p>
          <a:p>
            <a:pPr marL="742950" lvl="1" indent="-285750">
              <a:lnSpc>
                <a:spcPct val="140000"/>
              </a:lnSpc>
              <a:buSzPct val="100000"/>
              <a:buFont typeface="Arial" panose="020B0604020202020204" pitchFamily="34" charset="0"/>
              <a:buChar char="•"/>
            </a:pPr>
            <a:r>
              <a:rPr lang="en-GB" sz="1600" dirty="0"/>
              <a:t>Provide a readiness score for placements.</a:t>
            </a:r>
          </a:p>
          <a:p>
            <a:pPr marL="742950" lvl="1" indent="-285750">
              <a:lnSpc>
                <a:spcPct val="140000"/>
              </a:lnSpc>
              <a:buSzPct val="100000"/>
              <a:buFont typeface="Arial" panose="020B0604020202020204" pitchFamily="34" charset="0"/>
              <a:buChar char="•"/>
            </a:pPr>
            <a:r>
              <a:rPr lang="en-GB" sz="1600" dirty="0"/>
              <a:t>Simulate feedback from the recruiter for specific companies.</a:t>
            </a:r>
          </a:p>
          <a:p>
            <a:pPr marL="742950" lvl="1" indent="-285750">
              <a:lnSpc>
                <a:spcPct val="140000"/>
              </a:lnSpc>
              <a:buSzPct val="100000"/>
              <a:buFont typeface="Arial" panose="020B0604020202020204" pitchFamily="34" charset="0"/>
              <a:buChar char="•"/>
            </a:pPr>
            <a:r>
              <a:rPr lang="en-GB" sz="1600" dirty="0"/>
              <a:t>Facilitate campus placements through efficient preparation.</a:t>
            </a:r>
            <a:endParaRPr lang="en-US" sz="1600" dirty="0"/>
          </a:p>
        </p:txBody>
      </p:sp>
      <p:sp>
        <p:nvSpPr>
          <p:cNvPr id="10" name="Text 8"/>
          <p:cNvSpPr/>
          <p:nvPr/>
        </p:nvSpPr>
        <p:spPr>
          <a:xfrm>
            <a:off x="548640" y="6510528"/>
            <a:ext cx="6400800" cy="274320"/>
          </a:xfrm>
          <a:prstGeom prst="rect">
            <a:avLst/>
          </a:prstGeom>
          <a:noFill/>
          <a:ln/>
        </p:spPr>
        <p:txBody>
          <a:bodyPr wrap="square" rtlCol="0" anchor="ctr"/>
          <a:lstStyle/>
          <a:p>
            <a:pPr marL="0" indent="0">
              <a:buNone/>
            </a:pP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9436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Existing Solutions &amp; Identified Gaps</a:t>
            </a:r>
            <a:endParaRPr lang="en-US" sz="2800" dirty="0"/>
          </a:p>
        </p:txBody>
      </p:sp>
      <p:sp>
        <p:nvSpPr>
          <p:cNvPr id="3" name="Shape 1"/>
          <p:cNvSpPr/>
          <p:nvPr/>
        </p:nvSpPr>
        <p:spPr>
          <a:xfrm>
            <a:off x="548640" y="941832"/>
            <a:ext cx="11064240" cy="0"/>
          </a:xfrm>
          <a:prstGeom prst="line">
            <a:avLst/>
          </a:prstGeom>
          <a:noFill/>
          <a:ln w="12700">
            <a:solidFill>
              <a:srgbClr val="BFBFBF"/>
            </a:solidFill>
            <a:prstDash val="solid"/>
          </a:ln>
        </p:spPr>
      </p:sp>
      <p:graphicFrame>
        <p:nvGraphicFramePr>
          <p:cNvPr id="4" name="Table 0"/>
          <p:cNvGraphicFramePr>
            <a:graphicFrameLocks noGrp="1"/>
          </p:cNvGraphicFramePr>
          <p:nvPr>
            <p:extLst>
              <p:ext uri="{D42A27DB-BD31-4B8C-83A1-F6EECF244321}">
                <p14:modId xmlns:p14="http://schemas.microsoft.com/office/powerpoint/2010/main" val="1042239535"/>
              </p:ext>
            </p:extLst>
          </p:nvPr>
        </p:nvGraphicFramePr>
        <p:xfrm>
          <a:off x="548640" y="1143000"/>
          <a:ext cx="11064240" cy="2743200"/>
        </p:xfrm>
        <a:graphic>
          <a:graphicData uri="http://schemas.openxmlformats.org/drawingml/2006/table">
            <a:tbl>
              <a:tblPr/>
              <a:tblGrid>
                <a:gridCol w="2468880">
                  <a:extLst>
                    <a:ext uri="{9D8B030D-6E8A-4147-A177-3AD203B41FA5}">
                      <a16:colId xmlns:a16="http://schemas.microsoft.com/office/drawing/2014/main" val="20000"/>
                    </a:ext>
                  </a:extLst>
                </a:gridCol>
                <a:gridCol w="466344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45720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Solution</a:t>
                      </a:r>
                      <a:endParaRPr lang="en-US" sz="120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What It Does</a:t>
                      </a:r>
                      <a:endParaRPr lang="en-US" sz="120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Limitation</a:t>
                      </a:r>
                      <a:endParaRPr lang="en-US" sz="120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457200">
                <a:tc>
                  <a:txBody>
                    <a:bodyPr/>
                    <a:lstStyle/>
                    <a:p>
                      <a:pPr marL="0" indent="0" algn="l">
                        <a:buNone/>
                      </a:pPr>
                      <a:r>
                        <a:rPr lang="en-US" sz="1250" b="1" dirty="0">
                          <a:solidFill>
                            <a:srgbClr val="262626"/>
                          </a:solidFill>
                          <a:latin typeface="Calibri" pitchFamily="34" charset="0"/>
                          <a:ea typeface="Calibri" pitchFamily="34" charset="-122"/>
                          <a:cs typeface="Calibri" pitchFamily="34" charset="-120"/>
                        </a:rPr>
                        <a:t>ChatGPT</a:t>
                      </a:r>
                      <a:endParaRPr lang="en-US" sz="12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Gives general career advice</a:t>
                      </a:r>
                      <a:endParaRPr lang="en-US" sz="12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Not personalized to the student</a:t>
                      </a:r>
                      <a:endParaRPr lang="en-US" sz="12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250" b="1" dirty="0">
                          <a:solidFill>
                            <a:srgbClr val="262626"/>
                          </a:solidFill>
                          <a:latin typeface="Calibri" pitchFamily="34" charset="0"/>
                          <a:ea typeface="Calibri" pitchFamily="34" charset="-122"/>
                          <a:cs typeface="Calibri" pitchFamily="34" charset="-120"/>
                        </a:rPr>
                        <a:t>Resume Worded</a:t>
                      </a:r>
                      <a:endParaRPr lang="en-US" sz="12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Checks resume for keywords</a:t>
                      </a:r>
                      <a:endParaRPr lang="en-US" sz="12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No skill or interview guidance</a:t>
                      </a:r>
                      <a:endParaRPr lang="en-US" sz="12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57200">
                <a:tc>
                  <a:txBody>
                    <a:bodyPr/>
                    <a:lstStyle/>
                    <a:p>
                      <a:pPr marL="0" indent="0" algn="l">
                        <a:buNone/>
                      </a:pPr>
                      <a:r>
                        <a:rPr lang="en-US" sz="1250" b="1" dirty="0">
                          <a:solidFill>
                            <a:srgbClr val="262626"/>
                          </a:solidFill>
                          <a:latin typeface="Calibri" pitchFamily="34" charset="0"/>
                          <a:ea typeface="Calibri" pitchFamily="34" charset="-122"/>
                          <a:cs typeface="Calibri" pitchFamily="34" charset="-120"/>
                        </a:rPr>
                        <a:t>Rezi AI</a:t>
                      </a:r>
                      <a:endParaRPr lang="en-US" sz="12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Helps build a resume</a:t>
                      </a:r>
                      <a:endParaRPr lang="en-US" sz="12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Only works on resumes</a:t>
                      </a:r>
                      <a:endParaRPr lang="en-US" sz="12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250" b="1" dirty="0">
                          <a:solidFill>
                            <a:srgbClr val="262626"/>
                          </a:solidFill>
                          <a:latin typeface="Calibri" pitchFamily="34" charset="0"/>
                          <a:ea typeface="Calibri" pitchFamily="34" charset="-122"/>
                          <a:cs typeface="Calibri" pitchFamily="34" charset="-120"/>
                        </a:rPr>
                        <a:t>LinkedIn Learning</a:t>
                      </a:r>
                      <a:endParaRPr lang="en-US" sz="12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Offers many courses</a:t>
                      </a:r>
                      <a:endParaRPr lang="en-US" sz="12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Doesn't tell what to learn first</a:t>
                      </a:r>
                      <a:endParaRPr lang="en-US" sz="12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57200">
                <a:tc>
                  <a:txBody>
                    <a:bodyPr/>
                    <a:lstStyle/>
                    <a:p>
                      <a:pPr marL="0" indent="0" algn="l">
                        <a:buNone/>
                      </a:pPr>
                      <a:r>
                        <a:rPr lang="en-US" sz="1250" b="1" dirty="0">
                          <a:solidFill>
                            <a:srgbClr val="262626"/>
                          </a:solidFill>
                          <a:latin typeface="Calibri" pitchFamily="34" charset="0"/>
                          <a:ea typeface="Calibri" pitchFamily="34" charset="-122"/>
                          <a:cs typeface="Calibri" pitchFamily="34" charset="-120"/>
                        </a:rPr>
                        <a:t>Coursera</a:t>
                      </a:r>
                      <a:endParaRPr lang="en-US" sz="12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Offers structured courses</a:t>
                      </a:r>
                      <a:endParaRPr lang="en-US" sz="12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Not linked to placement readiness</a:t>
                      </a:r>
                      <a:endParaRPr lang="en-US" sz="12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p:nvPr/>
        </p:nvSpPr>
        <p:spPr>
          <a:xfrm>
            <a:off x="548640" y="4160520"/>
            <a:ext cx="5486400" cy="292608"/>
          </a:xfrm>
          <a:prstGeom prst="rect">
            <a:avLst/>
          </a:prstGeom>
          <a:noFill/>
          <a:ln/>
        </p:spPr>
        <p:txBody>
          <a:bodyPr wrap="square" rtlCol="0" anchor="ctr"/>
          <a:lstStyle/>
          <a:p>
            <a:pPr marL="0" indent="0">
              <a:buNone/>
            </a:pPr>
            <a:r>
              <a:rPr lang="en-US" sz="1500" b="1" dirty="0">
                <a:solidFill>
                  <a:srgbClr val="1F4E79"/>
                </a:solidFill>
                <a:latin typeface="Calibri" pitchFamily="34" charset="0"/>
                <a:ea typeface="Calibri" pitchFamily="34" charset="-122"/>
                <a:cs typeface="Calibri" pitchFamily="34" charset="-120"/>
              </a:rPr>
              <a:t>Gaps We Found</a:t>
            </a:r>
            <a:endParaRPr lang="en-US" sz="1500" dirty="0"/>
          </a:p>
        </p:txBody>
      </p:sp>
      <p:sp>
        <p:nvSpPr>
          <p:cNvPr id="6" name="Text 3"/>
          <p:cNvSpPr/>
          <p:nvPr/>
        </p:nvSpPr>
        <p:spPr>
          <a:xfrm>
            <a:off x="548640" y="4526280"/>
            <a:ext cx="10972800" cy="1828800"/>
          </a:xfrm>
          <a:prstGeom prst="rect">
            <a:avLst/>
          </a:prstGeom>
          <a:noFill/>
          <a:ln/>
        </p:spPr>
        <p:txBody>
          <a:bodyPr wrap="square" rtlCol="0" anchor="t"/>
          <a:lstStyle/>
          <a:p>
            <a:pPr marL="342900" indent="-342900">
              <a:lnSpc>
                <a:spcPct val="135000"/>
              </a:lnSpc>
              <a:buSzPct val="100000"/>
              <a:buChar char="▪"/>
            </a:pPr>
            <a:r>
              <a:rPr lang="en-GB" sz="1600" dirty="0"/>
              <a:t>The students get general suggestions rather than customized advice.</a:t>
            </a:r>
          </a:p>
          <a:p>
            <a:pPr marL="342900" indent="-342900">
              <a:lnSpc>
                <a:spcPct val="135000"/>
              </a:lnSpc>
              <a:buSzPct val="100000"/>
              <a:buChar char="▪"/>
            </a:pPr>
            <a:r>
              <a:rPr lang="en-GB" sz="1600" dirty="0"/>
              <a:t>There is no system that will provide resume building, identifying skill gaps, and placement preparation in one place.</a:t>
            </a:r>
          </a:p>
          <a:p>
            <a:pPr marL="342900" indent="-342900">
              <a:lnSpc>
                <a:spcPct val="135000"/>
              </a:lnSpc>
              <a:buSzPct val="100000"/>
              <a:buChar char="▪"/>
            </a:pPr>
            <a:r>
              <a:rPr lang="en-GB" sz="1600" dirty="0"/>
              <a:t>Current systems do not monitor the progress of the students.</a:t>
            </a:r>
          </a:p>
          <a:p>
            <a:pPr marL="342900" indent="-342900">
              <a:lnSpc>
                <a:spcPct val="135000"/>
              </a:lnSpc>
              <a:buSzPct val="100000"/>
              <a:buChar char="▪"/>
            </a:pPr>
            <a:r>
              <a:rPr lang="en-GB" sz="1600" dirty="0"/>
              <a:t>Students are not aware of their level of readiness for a certain organization.</a:t>
            </a:r>
          </a:p>
          <a:p>
            <a:pPr marL="342900" indent="-342900">
              <a:lnSpc>
                <a:spcPct val="135000"/>
              </a:lnSpc>
              <a:buSzPct val="100000"/>
              <a:buChar char="▪"/>
            </a:pPr>
            <a:r>
              <a:rPr lang="en-GB" sz="1600" dirty="0"/>
              <a:t>A number of websites are required for resume building, training, and interviewing.</a:t>
            </a:r>
            <a:endParaRPr lang="en-US" sz="1600" dirty="0"/>
          </a:p>
        </p:txBody>
      </p:sp>
      <p:sp>
        <p:nvSpPr>
          <p:cNvPr id="7" name="Text 4"/>
          <p:cNvSpPr/>
          <p:nvPr/>
        </p:nvSpPr>
        <p:spPr>
          <a:xfrm>
            <a:off x="548640" y="6510528"/>
            <a:ext cx="6400800" cy="274320"/>
          </a:xfrm>
          <a:prstGeom prst="rect">
            <a:avLst/>
          </a:prstGeom>
          <a:noFill/>
          <a:ln/>
        </p:spPr>
        <p:txBody>
          <a:bodyPr wrap="square" rtlCol="0" anchor="ctr"/>
          <a:lstStyle/>
          <a:p>
            <a:pPr marL="0" indent="0">
              <a:buNone/>
            </a:pPr>
            <a:r>
              <a:rPr lang="en-US" sz="900" dirty="0">
                <a:solidFill>
                  <a:srgbClr val="595959"/>
                </a:solidFill>
                <a:latin typeface="Calibri" pitchFamily="34" charset="0"/>
                <a:ea typeface="Calibri" pitchFamily="34" charset="-122"/>
                <a:cs typeface="Calibri" pitchFamily="34" charset="-120"/>
              </a:rPr>
              <a:t>VISIONX  |  AI Placement Mentor  |  Slide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9436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System Design</a:t>
            </a:r>
            <a:endParaRPr lang="en-US" sz="2800" dirty="0"/>
          </a:p>
        </p:txBody>
      </p:sp>
      <p:sp>
        <p:nvSpPr>
          <p:cNvPr id="3" name="Shape 1"/>
          <p:cNvSpPr/>
          <p:nvPr/>
        </p:nvSpPr>
        <p:spPr>
          <a:xfrm>
            <a:off x="548640" y="941832"/>
            <a:ext cx="11064240" cy="0"/>
          </a:xfrm>
          <a:prstGeom prst="line">
            <a:avLst/>
          </a:prstGeom>
          <a:noFill/>
          <a:ln w="12700">
            <a:solidFill>
              <a:srgbClr val="BFBFBF"/>
            </a:solidFill>
            <a:prstDash val="solid"/>
          </a:ln>
        </p:spPr>
      </p:sp>
      <p:sp>
        <p:nvSpPr>
          <p:cNvPr id="5" name="Text 3"/>
          <p:cNvSpPr/>
          <p:nvPr/>
        </p:nvSpPr>
        <p:spPr>
          <a:xfrm>
            <a:off x="2103120" y="1897380"/>
            <a:ext cx="3291840" cy="4572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Student</a:t>
            </a:r>
            <a:endParaRPr lang="en-US" sz="1150" dirty="0"/>
          </a:p>
        </p:txBody>
      </p:sp>
      <p:sp>
        <p:nvSpPr>
          <p:cNvPr id="18" name="Text 16"/>
          <p:cNvSpPr/>
          <p:nvPr/>
        </p:nvSpPr>
        <p:spPr>
          <a:xfrm>
            <a:off x="4160520" y="2802636"/>
            <a:ext cx="7452360" cy="457200"/>
          </a:xfrm>
          <a:prstGeom prst="rect">
            <a:avLst/>
          </a:prstGeom>
          <a:noFill/>
          <a:ln/>
        </p:spPr>
        <p:txBody>
          <a:bodyPr wrap="square" rtlCol="0" anchor="ctr"/>
          <a:lstStyle/>
          <a:p>
            <a:pPr marL="0" indent="0">
              <a:buNone/>
            </a:pPr>
            <a:endParaRPr lang="en-US" sz="1100" dirty="0"/>
          </a:p>
        </p:txBody>
      </p:sp>
      <p:sp>
        <p:nvSpPr>
          <p:cNvPr id="26" name="Text 24"/>
          <p:cNvSpPr/>
          <p:nvPr/>
        </p:nvSpPr>
        <p:spPr>
          <a:xfrm>
            <a:off x="4160520" y="3927348"/>
            <a:ext cx="7452360" cy="457200"/>
          </a:xfrm>
          <a:prstGeom prst="rect">
            <a:avLst/>
          </a:prstGeom>
          <a:noFill/>
          <a:ln/>
        </p:spPr>
        <p:txBody>
          <a:bodyPr wrap="square" rtlCol="0" anchor="ctr"/>
          <a:lstStyle/>
          <a:p>
            <a:pPr marL="0" indent="0">
              <a:buNone/>
            </a:pPr>
            <a:endParaRPr lang="en-US" sz="1100" dirty="0"/>
          </a:p>
        </p:txBody>
      </p:sp>
      <p:sp>
        <p:nvSpPr>
          <p:cNvPr id="30" name="Text 28"/>
          <p:cNvSpPr/>
          <p:nvPr/>
        </p:nvSpPr>
        <p:spPr>
          <a:xfrm>
            <a:off x="4160520" y="4489704"/>
            <a:ext cx="7452360" cy="457200"/>
          </a:xfrm>
          <a:prstGeom prst="rect">
            <a:avLst/>
          </a:prstGeom>
          <a:noFill/>
          <a:ln/>
        </p:spPr>
        <p:txBody>
          <a:bodyPr wrap="square" rtlCol="0" anchor="ctr"/>
          <a:lstStyle/>
          <a:p>
            <a:pPr marL="0" indent="0">
              <a:buNone/>
            </a:pPr>
            <a:endParaRPr lang="en-US" sz="1100" dirty="0"/>
          </a:p>
        </p:txBody>
      </p:sp>
      <p:sp>
        <p:nvSpPr>
          <p:cNvPr id="34" name="Text 32"/>
          <p:cNvSpPr/>
          <p:nvPr/>
        </p:nvSpPr>
        <p:spPr>
          <a:xfrm>
            <a:off x="4160520" y="5052060"/>
            <a:ext cx="7452360" cy="457200"/>
          </a:xfrm>
          <a:prstGeom prst="rect">
            <a:avLst/>
          </a:prstGeom>
          <a:noFill/>
          <a:ln/>
        </p:spPr>
        <p:txBody>
          <a:bodyPr wrap="square" rtlCol="0" anchor="ctr"/>
          <a:lstStyle/>
          <a:p>
            <a:pPr marL="0" indent="0">
              <a:buNone/>
            </a:pPr>
            <a:endParaRPr lang="en-US" sz="1100" dirty="0"/>
          </a:p>
        </p:txBody>
      </p:sp>
      <p:sp>
        <p:nvSpPr>
          <p:cNvPr id="35" name="Text 33"/>
          <p:cNvSpPr/>
          <p:nvPr/>
        </p:nvSpPr>
        <p:spPr>
          <a:xfrm>
            <a:off x="548640" y="6510528"/>
            <a:ext cx="6400800" cy="274320"/>
          </a:xfrm>
          <a:prstGeom prst="rect">
            <a:avLst/>
          </a:prstGeom>
          <a:noFill/>
          <a:ln/>
        </p:spPr>
        <p:txBody>
          <a:bodyPr wrap="square" rtlCol="0" anchor="ctr"/>
          <a:lstStyle/>
          <a:p>
            <a:pPr marL="0" indent="0">
              <a:buNone/>
            </a:pPr>
            <a:r>
              <a:rPr lang="en-US" sz="900" dirty="0">
                <a:solidFill>
                  <a:srgbClr val="595959"/>
                </a:solidFill>
                <a:latin typeface="Calibri" pitchFamily="34" charset="0"/>
                <a:ea typeface="Calibri" pitchFamily="34" charset="-122"/>
                <a:cs typeface="Calibri" pitchFamily="34" charset="-120"/>
              </a:rPr>
              <a:t>VISIONX  |  AI Placement Mentor  |  Slide 4</a:t>
            </a:r>
            <a:endParaRPr lang="en-US" sz="900" dirty="0"/>
          </a:p>
        </p:txBody>
      </p:sp>
      <p:pic>
        <p:nvPicPr>
          <p:cNvPr id="37" name="Picture 36">
            <a:extLst>
              <a:ext uri="{FF2B5EF4-FFF2-40B4-BE49-F238E27FC236}">
                <a16:creationId xmlns:a16="http://schemas.microsoft.com/office/drawing/2014/main" id="{07E8F6E7-AC16-F97B-608F-062F9A189B29}"/>
              </a:ext>
            </a:extLst>
          </p:cNvPr>
          <p:cNvPicPr>
            <a:picLocks noChangeAspect="1"/>
          </p:cNvPicPr>
          <p:nvPr/>
        </p:nvPicPr>
        <p:blipFill>
          <a:blip r:embed="rId3"/>
          <a:stretch>
            <a:fillRect/>
          </a:stretch>
        </p:blipFill>
        <p:spPr>
          <a:xfrm>
            <a:off x="1473959" y="1502897"/>
            <a:ext cx="7219666" cy="441327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9436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Implementation Progress</a:t>
            </a:r>
            <a:endParaRPr lang="en-US" sz="2800" dirty="0"/>
          </a:p>
        </p:txBody>
      </p:sp>
      <p:sp>
        <p:nvSpPr>
          <p:cNvPr id="3" name="Shape 1"/>
          <p:cNvSpPr/>
          <p:nvPr/>
        </p:nvSpPr>
        <p:spPr>
          <a:xfrm>
            <a:off x="548640" y="941832"/>
            <a:ext cx="11064240" cy="0"/>
          </a:xfrm>
          <a:prstGeom prst="line">
            <a:avLst/>
          </a:prstGeom>
          <a:noFill/>
          <a:ln w="12700">
            <a:solidFill>
              <a:srgbClr val="BFBFBF"/>
            </a:solidFill>
            <a:prstDash val="solid"/>
          </a:ln>
        </p:spPr>
      </p:sp>
      <p:sp>
        <p:nvSpPr>
          <p:cNvPr id="4" name="Text 2"/>
          <p:cNvSpPr/>
          <p:nvPr/>
        </p:nvSpPr>
        <p:spPr>
          <a:xfrm>
            <a:off x="548640" y="1115568"/>
            <a:ext cx="5486400" cy="292608"/>
          </a:xfrm>
          <a:prstGeom prst="rect">
            <a:avLst/>
          </a:prstGeom>
          <a:noFill/>
          <a:ln/>
        </p:spPr>
        <p:txBody>
          <a:bodyPr wrap="square" rtlCol="0" anchor="ctr"/>
          <a:lstStyle/>
          <a:p>
            <a:pPr marL="0" indent="0">
              <a:buNone/>
            </a:pPr>
            <a:r>
              <a:rPr lang="en-US" sz="1450" b="1" dirty="0">
                <a:solidFill>
                  <a:srgbClr val="1F4E79"/>
                </a:solidFill>
                <a:latin typeface="Calibri" pitchFamily="34" charset="0"/>
                <a:ea typeface="Calibri" pitchFamily="34" charset="-122"/>
                <a:cs typeface="Calibri" pitchFamily="34" charset="-120"/>
              </a:rPr>
              <a:t>What We Have Built So Far</a:t>
            </a:r>
            <a:endParaRPr lang="en-US" sz="1450" dirty="0"/>
          </a:p>
        </p:txBody>
      </p:sp>
      <p:sp>
        <p:nvSpPr>
          <p:cNvPr id="8" name="Text 6"/>
          <p:cNvSpPr/>
          <p:nvPr/>
        </p:nvSpPr>
        <p:spPr>
          <a:xfrm>
            <a:off x="685800" y="1627632"/>
            <a:ext cx="5074920" cy="1517904"/>
          </a:xfrm>
          <a:prstGeom prst="rect">
            <a:avLst/>
          </a:prstGeom>
          <a:noFill/>
          <a:ln/>
        </p:spPr>
        <p:txBody>
          <a:bodyPr wrap="square" rtlCol="0" anchor="t"/>
          <a:lstStyle/>
          <a:p>
            <a:pPr marL="285750" indent="-285750">
              <a:buFont typeface="Arial" panose="020B0604020202020204" pitchFamily="34" charset="0"/>
              <a:buChar char="•"/>
            </a:pPr>
            <a:r>
              <a:rPr lang="en-GB" sz="1600" dirty="0"/>
              <a:t>User Authentication</a:t>
            </a:r>
          </a:p>
          <a:p>
            <a:pPr marL="285750" indent="-285750">
              <a:buFont typeface="Arial" panose="020B0604020202020204" pitchFamily="34" charset="0"/>
              <a:buChar char="•"/>
            </a:pPr>
            <a:r>
              <a:rPr lang="en-GB" sz="1600" dirty="0"/>
              <a:t>Student Profile Management</a:t>
            </a:r>
          </a:p>
          <a:p>
            <a:pPr marL="285750" indent="-285750">
              <a:buFont typeface="Arial" panose="020B0604020202020204" pitchFamily="34" charset="0"/>
              <a:buChar char="•"/>
            </a:pPr>
            <a:r>
              <a:rPr lang="en-GB" sz="1600" dirty="0"/>
              <a:t>Resume Upload and PDF Parsing</a:t>
            </a:r>
          </a:p>
          <a:p>
            <a:pPr marL="285750" indent="-285750">
              <a:buFont typeface="Arial" panose="020B0604020202020204" pitchFamily="34" charset="0"/>
              <a:buChar char="•"/>
            </a:pPr>
            <a:r>
              <a:rPr lang="en-GB" sz="1600" dirty="0"/>
              <a:t>AI-based Resume Analysis and Skill Gap Detection</a:t>
            </a:r>
          </a:p>
          <a:p>
            <a:pPr marL="285750" indent="-285750">
              <a:buFont typeface="Arial" panose="020B0604020202020204" pitchFamily="34" charset="0"/>
              <a:buChar char="•"/>
            </a:pPr>
            <a:r>
              <a:rPr lang="en-GB" sz="1600" dirty="0"/>
              <a:t>Placement Readiness Score Generation</a:t>
            </a:r>
            <a:endParaRPr lang="en-US" sz="1600" dirty="0"/>
          </a:p>
        </p:txBody>
      </p:sp>
      <p:sp>
        <p:nvSpPr>
          <p:cNvPr id="9" name="Text 7"/>
          <p:cNvSpPr/>
          <p:nvPr/>
        </p:nvSpPr>
        <p:spPr>
          <a:xfrm>
            <a:off x="548640" y="2304288"/>
            <a:ext cx="274320" cy="365760"/>
          </a:xfrm>
          <a:prstGeom prst="rect">
            <a:avLst/>
          </a:prstGeom>
          <a:noFill/>
          <a:ln/>
        </p:spPr>
        <p:txBody>
          <a:bodyPr wrap="square" rtlCol="0" anchor="ctr"/>
          <a:lstStyle/>
          <a:p>
            <a:pPr marL="0" indent="0">
              <a:buNone/>
            </a:pPr>
            <a:endParaRPr lang="en-US" sz="1300" dirty="0"/>
          </a:p>
        </p:txBody>
      </p:sp>
      <p:sp>
        <p:nvSpPr>
          <p:cNvPr id="10" name="Text 8"/>
          <p:cNvSpPr/>
          <p:nvPr/>
        </p:nvSpPr>
        <p:spPr>
          <a:xfrm>
            <a:off x="868680" y="2304288"/>
            <a:ext cx="5074920" cy="365760"/>
          </a:xfrm>
          <a:prstGeom prst="rect">
            <a:avLst/>
          </a:prstGeom>
          <a:noFill/>
          <a:ln/>
        </p:spPr>
        <p:txBody>
          <a:bodyPr wrap="square" rtlCol="0" anchor="t"/>
          <a:lstStyle/>
          <a:p>
            <a:pPr marL="0" indent="0">
              <a:buNone/>
            </a:pPr>
            <a:endParaRPr lang="en-US" sz="1200" dirty="0"/>
          </a:p>
        </p:txBody>
      </p:sp>
      <p:sp>
        <p:nvSpPr>
          <p:cNvPr id="11" name="Text 9"/>
          <p:cNvSpPr/>
          <p:nvPr/>
        </p:nvSpPr>
        <p:spPr>
          <a:xfrm>
            <a:off x="548640" y="2724912"/>
            <a:ext cx="274320" cy="365760"/>
          </a:xfrm>
          <a:prstGeom prst="rect">
            <a:avLst/>
          </a:prstGeom>
          <a:noFill/>
          <a:ln/>
        </p:spPr>
        <p:txBody>
          <a:bodyPr wrap="square" rtlCol="0" anchor="ctr"/>
          <a:lstStyle/>
          <a:p>
            <a:pPr marL="0" indent="0">
              <a:buNone/>
            </a:pPr>
            <a:endParaRPr lang="en-US" sz="1300" dirty="0"/>
          </a:p>
        </p:txBody>
      </p:sp>
      <p:sp>
        <p:nvSpPr>
          <p:cNvPr id="12" name="Text 10"/>
          <p:cNvSpPr/>
          <p:nvPr/>
        </p:nvSpPr>
        <p:spPr>
          <a:xfrm>
            <a:off x="868680" y="1591057"/>
            <a:ext cx="5074920" cy="1499615"/>
          </a:xfrm>
          <a:prstGeom prst="rect">
            <a:avLst/>
          </a:prstGeom>
          <a:noFill/>
          <a:ln/>
        </p:spPr>
        <p:txBody>
          <a:bodyPr wrap="square" rtlCol="0" anchor="t"/>
          <a:lstStyle/>
          <a:p>
            <a:pPr marL="0" indent="0">
              <a:buNone/>
            </a:pPr>
            <a:endParaRPr lang="en-US" sz="1200" dirty="0"/>
          </a:p>
        </p:txBody>
      </p:sp>
      <p:sp>
        <p:nvSpPr>
          <p:cNvPr id="13" name="Text 11"/>
          <p:cNvSpPr/>
          <p:nvPr/>
        </p:nvSpPr>
        <p:spPr>
          <a:xfrm>
            <a:off x="548640" y="3145536"/>
            <a:ext cx="274320" cy="365760"/>
          </a:xfrm>
          <a:prstGeom prst="rect">
            <a:avLst/>
          </a:prstGeom>
          <a:noFill/>
          <a:ln/>
        </p:spPr>
        <p:txBody>
          <a:bodyPr wrap="square" rtlCol="0" anchor="ctr"/>
          <a:lstStyle/>
          <a:p>
            <a:pPr marL="0" indent="0">
              <a:buNone/>
            </a:pPr>
            <a:endParaRPr lang="en-US" sz="1300" dirty="0"/>
          </a:p>
        </p:txBody>
      </p:sp>
      <p:sp>
        <p:nvSpPr>
          <p:cNvPr id="14" name="Text 12"/>
          <p:cNvSpPr/>
          <p:nvPr/>
        </p:nvSpPr>
        <p:spPr>
          <a:xfrm>
            <a:off x="548640" y="3145536"/>
            <a:ext cx="5394960" cy="1609344"/>
          </a:xfrm>
          <a:prstGeom prst="rect">
            <a:avLst/>
          </a:prstGeom>
          <a:noFill/>
          <a:ln/>
        </p:spPr>
        <p:txBody>
          <a:bodyPr wrap="square" rtlCol="0" anchor="t"/>
          <a:lstStyle/>
          <a:p>
            <a:pPr marL="0" indent="0">
              <a:buNone/>
            </a:pPr>
            <a:r>
              <a:rPr lang="en-US" sz="1600" b="1" dirty="0">
                <a:solidFill>
                  <a:srgbClr val="002060"/>
                </a:solidFill>
              </a:rPr>
              <a:t>Expected outcomes</a:t>
            </a:r>
          </a:p>
          <a:p>
            <a:pPr marL="0" indent="0">
              <a:buNone/>
            </a:pPr>
            <a:endParaRPr lang="en-US" sz="1600" b="1" dirty="0">
              <a:solidFill>
                <a:srgbClr val="002060"/>
              </a:solidFill>
            </a:endParaRPr>
          </a:p>
          <a:p>
            <a:pPr marL="285750" indent="-285750">
              <a:buFont typeface="Arial" panose="020B0604020202020204" pitchFamily="34" charset="0"/>
              <a:buChar char="•"/>
            </a:pPr>
            <a:r>
              <a:rPr lang="en-US" sz="1600" dirty="0"/>
              <a:t>Better placement preparation</a:t>
            </a:r>
          </a:p>
          <a:p>
            <a:pPr marL="285750" indent="-285750">
              <a:buFont typeface="Arial" panose="020B0604020202020204" pitchFamily="34" charset="0"/>
              <a:buChar char="•"/>
            </a:pPr>
            <a:r>
              <a:rPr lang="en-US" sz="1600" dirty="0"/>
              <a:t>Improved interview confidence</a:t>
            </a:r>
          </a:p>
          <a:p>
            <a:pPr marL="285750" indent="-285750">
              <a:buFont typeface="Arial" panose="020B0604020202020204" pitchFamily="34" charset="0"/>
              <a:buChar char="•"/>
            </a:pPr>
            <a:r>
              <a:rPr lang="en-US" sz="1600" dirty="0"/>
              <a:t>Personalized guidance</a:t>
            </a:r>
          </a:p>
          <a:p>
            <a:pPr marL="285750" indent="-285750">
              <a:buFont typeface="Arial" panose="020B0604020202020204" pitchFamily="34" charset="0"/>
              <a:buChar char="•"/>
            </a:pPr>
            <a:r>
              <a:rPr lang="en-US" sz="1600" dirty="0"/>
              <a:t>Higher placement readiness</a:t>
            </a:r>
          </a:p>
        </p:txBody>
      </p:sp>
      <p:sp>
        <p:nvSpPr>
          <p:cNvPr id="17" name="Text 15"/>
          <p:cNvSpPr/>
          <p:nvPr/>
        </p:nvSpPr>
        <p:spPr>
          <a:xfrm>
            <a:off x="6309360" y="1115568"/>
            <a:ext cx="5486400" cy="292608"/>
          </a:xfrm>
          <a:prstGeom prst="rect">
            <a:avLst/>
          </a:prstGeom>
          <a:noFill/>
          <a:ln/>
        </p:spPr>
        <p:txBody>
          <a:bodyPr wrap="square" rtlCol="0" anchor="ctr"/>
          <a:lstStyle/>
          <a:p>
            <a:pPr marL="0" indent="0">
              <a:buNone/>
            </a:pPr>
            <a:r>
              <a:rPr lang="en-US" sz="1450" b="1" dirty="0">
                <a:solidFill>
                  <a:srgbClr val="1F4E79"/>
                </a:solidFill>
                <a:latin typeface="Calibri" pitchFamily="34" charset="0"/>
                <a:ea typeface="Calibri" pitchFamily="34" charset="-122"/>
                <a:cs typeface="Calibri" pitchFamily="34" charset="-120"/>
              </a:rPr>
              <a:t>Screens</a:t>
            </a:r>
            <a:endParaRPr lang="en-US" sz="1450" dirty="0"/>
          </a:p>
        </p:txBody>
      </p:sp>
      <p:sp>
        <p:nvSpPr>
          <p:cNvPr id="19" name="Text 17"/>
          <p:cNvSpPr/>
          <p:nvPr/>
        </p:nvSpPr>
        <p:spPr>
          <a:xfrm>
            <a:off x="6309360" y="2148840"/>
            <a:ext cx="2560320" cy="274320"/>
          </a:xfrm>
          <a:prstGeom prst="rect">
            <a:avLst/>
          </a:prstGeom>
          <a:noFill/>
          <a:ln/>
        </p:spPr>
        <p:txBody>
          <a:bodyPr wrap="square" rtlCol="0" anchor="ctr"/>
          <a:lstStyle/>
          <a:p>
            <a:pPr marL="0" indent="0" algn="ctr">
              <a:buNone/>
            </a:pPr>
            <a:endParaRPr lang="en-US" sz="1150" dirty="0"/>
          </a:p>
        </p:txBody>
      </p:sp>
      <p:sp>
        <p:nvSpPr>
          <p:cNvPr id="22" name="Text 20"/>
          <p:cNvSpPr/>
          <p:nvPr/>
        </p:nvSpPr>
        <p:spPr>
          <a:xfrm>
            <a:off x="9052560" y="2148840"/>
            <a:ext cx="2560320" cy="274320"/>
          </a:xfrm>
          <a:prstGeom prst="rect">
            <a:avLst/>
          </a:prstGeom>
          <a:noFill/>
          <a:ln/>
        </p:spPr>
        <p:txBody>
          <a:bodyPr wrap="square" rtlCol="0" anchor="ctr"/>
          <a:lstStyle/>
          <a:p>
            <a:pPr marL="0" indent="0" algn="ctr">
              <a:buNone/>
            </a:pPr>
            <a:endParaRPr lang="en-US" sz="1150" dirty="0"/>
          </a:p>
        </p:txBody>
      </p:sp>
      <p:sp>
        <p:nvSpPr>
          <p:cNvPr id="23" name="Text 21"/>
          <p:cNvSpPr/>
          <p:nvPr/>
        </p:nvSpPr>
        <p:spPr>
          <a:xfrm>
            <a:off x="9052560" y="3337560"/>
            <a:ext cx="2560320" cy="274320"/>
          </a:xfrm>
          <a:prstGeom prst="rect">
            <a:avLst/>
          </a:prstGeom>
          <a:noFill/>
          <a:ln/>
        </p:spPr>
        <p:txBody>
          <a:bodyPr wrap="square" rtlCol="0" anchor="ctr"/>
          <a:lstStyle/>
          <a:p>
            <a:pPr marL="0" indent="0" algn="ctr">
              <a:buNone/>
            </a:pPr>
            <a:endParaRPr lang="en-US" sz="1050" dirty="0"/>
          </a:p>
        </p:txBody>
      </p:sp>
      <p:sp>
        <p:nvSpPr>
          <p:cNvPr id="25" name="Text 23"/>
          <p:cNvSpPr/>
          <p:nvPr/>
        </p:nvSpPr>
        <p:spPr>
          <a:xfrm>
            <a:off x="548640" y="3035808"/>
            <a:ext cx="5486400" cy="2160715"/>
          </a:xfrm>
          <a:prstGeom prst="rect">
            <a:avLst/>
          </a:prstGeom>
          <a:noFill/>
          <a:ln/>
        </p:spPr>
        <p:txBody>
          <a:bodyPr wrap="square" rtlCol="0" anchor="ctr"/>
          <a:lstStyle/>
          <a:p>
            <a:pPr marL="0" indent="0">
              <a:buNone/>
            </a:pPr>
            <a:endParaRPr lang="en-US" sz="1500" dirty="0"/>
          </a:p>
        </p:txBody>
      </p:sp>
      <p:sp>
        <p:nvSpPr>
          <p:cNvPr id="26" name="Text 24"/>
          <p:cNvSpPr/>
          <p:nvPr/>
        </p:nvSpPr>
        <p:spPr>
          <a:xfrm>
            <a:off x="822960" y="4883715"/>
            <a:ext cx="5120640" cy="457200"/>
          </a:xfrm>
          <a:prstGeom prst="rect">
            <a:avLst/>
          </a:prstGeom>
          <a:noFill/>
          <a:ln/>
        </p:spPr>
        <p:txBody>
          <a:bodyPr wrap="square" rtlCol="0" anchor="ctr"/>
          <a:lstStyle/>
          <a:p>
            <a:pPr marL="0" indent="0">
              <a:buNone/>
            </a:pPr>
            <a:endParaRPr lang="en-US" sz="1300" dirty="0"/>
          </a:p>
        </p:txBody>
      </p:sp>
      <p:sp>
        <p:nvSpPr>
          <p:cNvPr id="27" name="Text 25"/>
          <p:cNvSpPr/>
          <p:nvPr/>
        </p:nvSpPr>
        <p:spPr>
          <a:xfrm>
            <a:off x="6217920" y="4754880"/>
            <a:ext cx="5120640" cy="457200"/>
          </a:xfrm>
          <a:prstGeom prst="rect">
            <a:avLst/>
          </a:prstGeom>
          <a:noFill/>
          <a:ln/>
        </p:spPr>
        <p:txBody>
          <a:bodyPr wrap="square" rtlCol="0" anchor="ctr"/>
          <a:lstStyle/>
          <a:p>
            <a:pPr marL="0" indent="0">
              <a:buNone/>
            </a:pPr>
            <a:endParaRPr lang="en-US" sz="1300" dirty="0"/>
          </a:p>
        </p:txBody>
      </p:sp>
      <p:sp>
        <p:nvSpPr>
          <p:cNvPr id="29" name="Text 27"/>
          <p:cNvSpPr/>
          <p:nvPr/>
        </p:nvSpPr>
        <p:spPr>
          <a:xfrm>
            <a:off x="6217920" y="5321808"/>
            <a:ext cx="5120640" cy="457200"/>
          </a:xfrm>
          <a:prstGeom prst="rect">
            <a:avLst/>
          </a:prstGeom>
          <a:noFill/>
          <a:ln/>
        </p:spPr>
        <p:txBody>
          <a:bodyPr wrap="square" rtlCol="0" anchor="ctr"/>
          <a:lstStyle/>
          <a:p>
            <a:pPr marL="0" indent="0">
              <a:buNone/>
            </a:pPr>
            <a:endParaRPr lang="en-US" sz="1300" dirty="0"/>
          </a:p>
        </p:txBody>
      </p:sp>
      <p:sp>
        <p:nvSpPr>
          <p:cNvPr id="30" name="Text 28"/>
          <p:cNvSpPr/>
          <p:nvPr/>
        </p:nvSpPr>
        <p:spPr>
          <a:xfrm>
            <a:off x="548640" y="6510528"/>
            <a:ext cx="6400800" cy="274320"/>
          </a:xfrm>
          <a:prstGeom prst="rect">
            <a:avLst/>
          </a:prstGeom>
          <a:noFill/>
          <a:ln/>
        </p:spPr>
        <p:txBody>
          <a:bodyPr wrap="square" rtlCol="0" anchor="ctr"/>
          <a:lstStyle/>
          <a:p>
            <a:pPr marL="0" indent="0">
              <a:buNone/>
            </a:pPr>
            <a:r>
              <a:rPr lang="en-US" sz="900" dirty="0">
                <a:solidFill>
                  <a:srgbClr val="595959"/>
                </a:solidFill>
                <a:latin typeface="Calibri" pitchFamily="34" charset="0"/>
                <a:ea typeface="Calibri" pitchFamily="34" charset="-122"/>
                <a:cs typeface="Calibri" pitchFamily="34" charset="-120"/>
              </a:rPr>
              <a:t>VISIONX  |  AI Placement Mentor  |  Slide 5</a:t>
            </a:r>
            <a:endParaRPr lang="en-US" sz="900" dirty="0"/>
          </a:p>
        </p:txBody>
      </p:sp>
      <p:pic>
        <p:nvPicPr>
          <p:cNvPr id="34" name="Picture 33">
            <a:extLst>
              <a:ext uri="{FF2B5EF4-FFF2-40B4-BE49-F238E27FC236}">
                <a16:creationId xmlns:a16="http://schemas.microsoft.com/office/drawing/2014/main" id="{A0C8DBA0-6E26-65F4-BE1F-4E0B5E54C776}"/>
              </a:ext>
            </a:extLst>
          </p:cNvPr>
          <p:cNvPicPr>
            <a:picLocks noChangeAspect="1"/>
          </p:cNvPicPr>
          <p:nvPr/>
        </p:nvPicPr>
        <p:blipFill>
          <a:blip r:embed="rId3"/>
          <a:stretch>
            <a:fillRect/>
          </a:stretch>
        </p:blipFill>
        <p:spPr>
          <a:xfrm>
            <a:off x="5636524" y="1517084"/>
            <a:ext cx="5732571" cy="534091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FEADB9E-3980-AA0C-4701-3E4001AE52D9}"/>
              </a:ext>
            </a:extLst>
          </p:cNvPr>
          <p:cNvPicPr>
            <a:picLocks noChangeAspect="1"/>
          </p:cNvPicPr>
          <p:nvPr/>
        </p:nvPicPr>
        <p:blipFill>
          <a:blip r:embed="rId2"/>
          <a:stretch>
            <a:fillRect/>
          </a:stretch>
        </p:blipFill>
        <p:spPr>
          <a:xfrm>
            <a:off x="0" y="708660"/>
            <a:ext cx="7001301" cy="5440680"/>
          </a:xfrm>
          <a:prstGeom prst="rect">
            <a:avLst/>
          </a:prstGeom>
        </p:spPr>
      </p:pic>
      <p:pic>
        <p:nvPicPr>
          <p:cNvPr id="5" name="Picture 4">
            <a:extLst>
              <a:ext uri="{FF2B5EF4-FFF2-40B4-BE49-F238E27FC236}">
                <a16:creationId xmlns:a16="http://schemas.microsoft.com/office/drawing/2014/main" id="{E0AE0E9B-1D1F-1A7A-6238-76E4133A4F73}"/>
              </a:ext>
            </a:extLst>
          </p:cNvPr>
          <p:cNvPicPr>
            <a:picLocks noChangeAspect="1"/>
          </p:cNvPicPr>
          <p:nvPr/>
        </p:nvPicPr>
        <p:blipFill>
          <a:blip r:embed="rId3"/>
          <a:stretch>
            <a:fillRect/>
          </a:stretch>
        </p:blipFill>
        <p:spPr>
          <a:xfrm>
            <a:off x="6096000" y="708660"/>
            <a:ext cx="5490949" cy="5440680"/>
          </a:xfrm>
          <a:prstGeom prst="rect">
            <a:avLst/>
          </a:prstGeom>
        </p:spPr>
      </p:pic>
    </p:spTree>
    <p:extLst>
      <p:ext uri="{BB962C8B-B14F-4D97-AF65-F5344CB8AC3E}">
        <p14:creationId xmlns:p14="http://schemas.microsoft.com/office/powerpoint/2010/main" val="18911729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1335</TotalTime>
  <Words>447</Words>
  <Application>Microsoft Office PowerPoint</Application>
  <PresentationFormat>Widescreen</PresentationFormat>
  <Paragraphs>80</Paragraphs>
  <Slides>6</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Admin</cp:lastModifiedBy>
  <cp:revision>2</cp:revision>
  <dcterms:created xsi:type="dcterms:W3CDTF">2026-07-31T09:25:21Z</dcterms:created>
  <dcterms:modified xsi:type="dcterms:W3CDTF">2026-08-01T08:12:00Z</dcterms:modified>
</cp:coreProperties>
</file>